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</p:sldIdLst>
  <p:notesMasterIdLst>
    <p:notesMasterId r:id="rId4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Pengoperasian Proxmox VE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017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Lab — Virtualisasi Enterprise | IT Operasional Unit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Pengenalan Proxmox VE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 itu Proxmox VE?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Virtual Environment (VE) adalah platform virtualisasi open source berbasis Debian Linux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Menggabungkan dua teknologi virtualisasi dalam satu platform: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(Kernel-based Virtual Machine): untuk Virtual Machine (VM) penuh — Windows, Linux, dll.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LXC (Linux Containers): untuk container Linux yang ringan dan efisien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Dikelola sepenuhnya via Web UI (browser) — tidak perlu install software tambahan di komputer admin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Mendukung fitur enterprise: clustering, High Availability (HA), live migration, backup terjadwal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Lisensi: open source (Community Edition gratis, Enterprise Edition berbayar untuk support resmi)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Proxmox VE dapat diakses via browser di https://[IP-node]:8006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vs Proxmox VE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hypervisor (Type 2)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Berjalan di atas OS host (Windows/Linux)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Dikelola via GUI lokal di laptop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lab lokal &amp; development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fitur clustering atau HA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ada built-in backup scheduler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Gratis, ringan, mudah install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444752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Bare-metal hypervisor (Type 1 via KVM)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Diinstall langsung ke server — tidak butuh OS host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Dikelola via Web UI dari browser manapun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 production &amp; lab enterprise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Clustering, HA, live migration built-in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&amp; snapshot terjadwal (Proxmox Backup Server)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Gratis community, enterprise support berbayar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Arsitektur Proxmox VE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Hardware: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fisik (bare-metal) — CPU dengan VT-x/AMD-V, RAM, storage, NIC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Hypervisor: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OS (Debian-based) dengan kernel KVM — diinstall langsung ke hardware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Virtualisasi: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VM: mesin virtual penuh dengan hardware emulated (QEMU)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LXC Container: berbagi kernel dengan host, overhead sangat rendah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Management: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Web UI (port 8006) — antarmuka utama semua operasi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pvesh / qm / pct: CLI tools untuk otomasi via terminal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API: REST API untuk integrasi dengan tools eksternal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Mengenal Proxmox Web UI</a:t>
            </a:r>
            <a:endParaRPr lang="en-US" sz="3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&amp; Login Proxmox Web UI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Akses: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https://[IP-server]:8006  — pastikan menggunakan HTTPS (bukan HTTP)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yang didukung: Chrome, Firefox, Edge (modern browser)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Username: root  |  Password: [password saat instalasi]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Realm: pilih 'Linux PAM standard authentication' untuk login root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 'Proxmox VE authentication server' untuk akun user Proxmox internal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Keamanan: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sebagai root hanya untuk administrasi — buat user terpisah untuk operator harian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Sertifikat SSL default self-signed — browser akan warning, klik 'Advanced &gt; Proceed'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Ganti password root dan buat user operator segera setelah instalasi pertama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Proxmox Web UI — Panel Kiri (Resource Tree)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level — konfigurasi cluster, permission, storage global, HA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(hostname server)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fisik — System, Network, Disks, Ceph, Shell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(VMID: 100, 101, ...)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— KVM — tab Summary, Console, Hardware, dll.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65960"/>
            <a:ext cx="54864" cy="73152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(CTID: 200, 201, ...)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LXC Container — tab Summary, Console, Resources, Network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6A1A7A"/>
          </a:solidFill>
          <a:ln w="12700">
            <a:solidFill>
              <a:srgbClr val="6A1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(local, nas, ceph)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penyimpanan — ISO images, backups, disk images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880360"/>
            <a:ext cx="54864" cy="731520"/>
          </a:xfrm>
          <a:prstGeom prst="rect">
            <a:avLst/>
          </a:prstGeom>
          <a:solidFill>
            <a:srgbClr val="1A6A7A"/>
          </a:solidFill>
          <a:ln w="12700">
            <a:solidFill>
              <a:srgbClr val="1A6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(Backup Server)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Backup Server — jika terintegrasi dengan cluster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Menu per VM/Container — Panel Kanan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VM, resource usage (CPU, RAM, disk, network) secara realtime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langsung ke layar VM (noVNC/SPICE) — seperti monitor fisik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virtual hardware: CPU, RAM, disk, network adapter, CD/DVD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65960"/>
            <a:ext cx="54864" cy="73152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order, QEMU agent, protection, NUMA, KVM hardware clock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6A1A7A"/>
          </a:solidFill>
          <a:ln w="12700">
            <a:solidFill>
              <a:srgbClr val="6A1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History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semua operasi yang pernah dijalankan pada VM ini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880360"/>
            <a:ext cx="54864" cy="731520"/>
          </a:xfrm>
          <a:prstGeom prst="rect">
            <a:avLst/>
          </a:prstGeom>
          <a:solidFill>
            <a:srgbClr val="1A6A7A"/>
          </a:solidFill>
          <a:ln w="12700">
            <a:solidFill>
              <a:srgbClr val="1A6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 backup, buat backup manual, restore dari backup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7A1A2A"/>
          </a:solidFill>
          <a:ln w="12700">
            <a:solidFill>
              <a:srgbClr val="7A1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Replikasi disk VM ke node lain dalam cluster (untuk HA)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94760"/>
            <a:ext cx="54864" cy="731520"/>
          </a:xfrm>
          <a:prstGeom prst="rect">
            <a:avLst/>
          </a:prstGeom>
          <a:solidFill>
            <a:srgbClr val="2A6A1A"/>
          </a:solidFill>
          <a:ln w="12700">
            <a:solidFill>
              <a:srgbClr val="2A6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Buat, restore, dan hapus snapshot VM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— Konfigurasi Global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Datacenter — Sub-menu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cluster: jumlah node, VM, CT, resource usage keseluruhan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Cluster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cluster, join token untuk tambah node baru ke cluster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Options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layout console, email notifikasi, max workers, migration policy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65960"/>
            <a:ext cx="54864" cy="73152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Storage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Daftarkan storage pool: local, NFS, Ceph, iSCSI, ZFS, PBS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6A1A7A"/>
          </a:solidFill>
          <a:ln w="12700">
            <a:solidFill>
              <a:srgbClr val="6A1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Backup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jadwal backup otomatis untuk semua/sebagian VM di cluster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880360"/>
            <a:ext cx="54864" cy="731520"/>
          </a:xfrm>
          <a:prstGeom prst="rect">
            <a:avLst/>
          </a:prstGeom>
          <a:solidFill>
            <a:srgbClr val="1A6A7A"/>
          </a:solidFill>
          <a:ln w="12700">
            <a:solidFill>
              <a:srgbClr val="1A6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Permissions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User, group, role, ACL — manajemen hak akses Proxmox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7A1A2A"/>
          </a:solidFill>
          <a:ln w="12700">
            <a:solidFill>
              <a:srgbClr val="7A1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HA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— HA groups, resource agents, watchdog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94760"/>
            <a:ext cx="54864" cy="731520"/>
          </a:xfrm>
          <a:prstGeom prst="rect">
            <a:avLst/>
          </a:prstGeom>
          <a:solidFill>
            <a:srgbClr val="2A6A1A"/>
          </a:solidFill>
          <a:ln w="12700">
            <a:solidFill>
              <a:srgbClr val="2A6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Firewall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 cluster-level — rules yang berlaku untuk semua node/VM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Permissions — Manajemen User &amp; Role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user via Datacenter &gt; Permissions &gt; Users &gt; Add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Realm: pve (internal) atau pam (Linux system user)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Kelompokkan user — assign permission ke group lebih efisien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(Built-in):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Administrator: akses penuh semua operasi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PVEVMAdmin: kelola VM (start/stop/config) tanpa akses node/storage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PVEVMUser: hanya bisa start/stop/console VM yang ditentukan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PVEDatastoreAdmin: kelola storage dan backup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ACL (Access Control List):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Path: /vms/100 → User: operator → Role: PVEVMAdmin (hanya VM 100)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Gunakan role PVEVMUser untuk peserta lab — tidak bisa hapus VM atau ubah konfigurasi hardware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— Manajemen Server Fisik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Node — Sub-menu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CPU, RAM, disk usage node fisik. Subscription status. Uptime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Notes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bebas tentang node ini (markdown supported)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Shell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root langsung ke node — setara SSH tanpa perlu client SSH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65960"/>
            <a:ext cx="54864" cy="73152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System &gt; Network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interface jaringan node: bridge, bond, VLAN, IP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6A1A7A"/>
          </a:solidFill>
          <a:ln w="12700">
            <a:solidFill>
              <a:srgbClr val="6A1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System &gt; DNS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DNS server dan domain search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880360"/>
            <a:ext cx="54864" cy="731520"/>
          </a:xfrm>
          <a:prstGeom prst="rect">
            <a:avLst/>
          </a:prstGeom>
          <a:solidFill>
            <a:srgbClr val="1A6A7A"/>
          </a:solidFill>
          <a:ln w="12700">
            <a:solidFill>
              <a:srgbClr val="1A6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System &gt; Time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Timezone dan NTP server untuk sinkronisasi waktu node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7A1A2A"/>
          </a:solidFill>
          <a:ln w="12700">
            <a:solidFill>
              <a:srgbClr val="7A1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Disks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disk fisik, ZFS pools, LVM, Directory storage di node ini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94760"/>
            <a:ext cx="54864" cy="731520"/>
          </a:xfrm>
          <a:prstGeom prst="rect">
            <a:avLst/>
          </a:prstGeom>
          <a:solidFill>
            <a:srgbClr val="2A6A1A"/>
          </a:solidFill>
          <a:ln w="12700">
            <a:solidFill>
              <a:srgbClr val="2A6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Updates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Proxmox VE — apt update/upgrade via Web UI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System &gt; Network — Konfigurasi Jaringan Node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Types: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eth0 / ens18: NIC fisik — jangan assign IP langsung jika pakai bridge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Bridge (vmbr0): bridge virtual — VM dan CT menempel ke bridge ini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Bond: gabung 2+ NIC fisik untuk redundansi atau bandwidth aggregation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VLAN: tagging 802.1Q untuk segmentasi jaringan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Default (standar lab):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vmbr0 → bridge ke eth0 → IP node di sini (misal 192.168.1.10/24)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menggunakan vmbr0 → mendapat IP di subnet yang sama dengan node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ubah konfigurasi network: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'Apply Configuration' — jaringan akan restart, koneksi sementara terputus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Selalu backup konfigurasi /etc/network/interfaces sebelum mengubah network di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Shell — Terminal via Web UI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Shell membuka terminal root langsung di browser — setara SSH ke node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Perintah penting di Node Shell: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list — tampilkan semua VM dan statusnya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pct list — tampilkan semua LXC Container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pvecm status — status cluster dan quorum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pvesm status — status semua storage pool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/ htop — monitoring resource CPU dan RAM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journalctl -f — tail log sistem realtime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pveversion — versi Proxmox VE yang terinstall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Manajemen layanan: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status pveproxy — cek status Web UI service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systemctl restart pvedaemon — restart Proxmox daemon jika diperlukan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Node Shell berjalan sebagai root — hati-hati dengan perintah yang dijalankan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(KVM) — Buat &amp; Kelola VM</a:t>
            </a:r>
            <a:endParaRPr lang="en-US" sz="3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VM Baru di Proxmox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'Create VM' di pojok kanan atas Web UI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664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General: pilih Node, isi VMID (auto/manual), isi Name VM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3042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OS: pilih ISO dari storage — atau 'Do not use any media' untuk disk import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9443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System: pilih Machine (q35 rekomendasi), BIOS (OVMF untuk UEFI / SeaBIOS), tambah qemu-agent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5844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Disks: pilih storage, format (qcow2/raw), ukuran disk. Centang 'Discard' jika SSD/NVMe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2245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CPU: pilih jumlah socket &amp; core, Type (host/kvm64/x86-64-v2-AES)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91947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48646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Memory: isi RAM dalam MB. Aktifkan Ballooning untuk alokasi dinamis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55955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55046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Network: pilih bridge (vmbr0), model VirtIO, tag VLAN jika diperlukan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19963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199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" y="61447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Finish — VM terbuat. Klik Start untuk boot pertama kali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Gunakan CPU type 'host' untuk performa maksimal. Gunakan 'kvm64' agar VM bisa dimigrasikan ke node berbeda CPU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Hardware VM — Detail Konfigurasi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vCPU, CPU type, NUMA, CPU limit &amp; units untuk throttling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dalam MB, Memory Ballooning (min/max), Hugepages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Disk (scsi0/virtio0)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Ukuran disk, storage pool, cache mode, I/O thread, Discard (SSD trim)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65960"/>
            <a:ext cx="54864" cy="73152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Device (net0)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Bridge, model (VirtIO/e1000), MAC address, VLAN tag, rate limit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6A1A7A"/>
          </a:solidFill>
          <a:ln w="12700">
            <a:solidFill>
              <a:srgbClr val="6A1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CD/DVD Drive (ide2)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ISO untuk instalasi OS atau CD virtual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880360"/>
            <a:ext cx="54864" cy="731520"/>
          </a:xfrm>
          <a:prstGeom prst="rect">
            <a:avLst/>
          </a:prstGeom>
          <a:solidFill>
            <a:srgbClr val="1A6A7A"/>
          </a:solidFill>
          <a:ln w="12700">
            <a:solidFill>
              <a:srgbClr val="1A6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VGA type: std, cirrus, virtio, none (untuk headless VM + SPICE)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7A1A2A"/>
          </a:solidFill>
          <a:ln w="12700">
            <a:solidFill>
              <a:srgbClr val="7A1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/ PCI Passthrough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Teruskan perangkat USB fisik atau GPU langsung ke VM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94760"/>
            <a:ext cx="54864" cy="731520"/>
          </a:xfrm>
          <a:prstGeom prst="rect">
            <a:avLst/>
          </a:prstGeom>
          <a:solidFill>
            <a:srgbClr val="2A6A1A"/>
          </a:solidFill>
          <a:ln w="12700">
            <a:solidFill>
              <a:srgbClr val="2A6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Order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boot: disk, CD, network. Konfigurasi di tab Options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Options VM — Pengaturan Perilaku VM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boot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otomatis start saat node Proxmox dinyalakan — aktifkan untuk service kritis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Order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Urutan perangkat boot: pilih disk utama (scsi0) sebagai boot device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QEMU Guest Agent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agar Proxmox bisa baca IP VM, shutdown graceful, freeze disk saat backup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65960"/>
            <a:ext cx="54864" cy="73152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Kunci VM dari operasi hapus dan modifikasi hardware — untuk VM kritis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6A1A7A"/>
          </a:solidFill>
          <a:ln w="12700">
            <a:solidFill>
              <a:srgbClr val="6A1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Hotplug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Aktifkan/nonaktifkan fitur hotplug CPU, disk, network tanpa shutdown VM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880360"/>
            <a:ext cx="54864" cy="731520"/>
          </a:xfrm>
          <a:prstGeom prst="rect">
            <a:avLst/>
          </a:prstGeom>
          <a:solidFill>
            <a:srgbClr val="1A6A7A"/>
          </a:solidFill>
          <a:ln w="12700">
            <a:solidFill>
              <a:srgbClr val="1A6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hardware clock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Sinkronisasi clock VM dengan host — penting untuk VM Windows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7A1A2A"/>
          </a:solidFill>
          <a:ln w="12700">
            <a:solidFill>
              <a:srgbClr val="7A1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Type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i440fx (legacy) atau q35 (PCIe, rekomendasi untuk VM baru)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94760"/>
            <a:ext cx="54864" cy="731520"/>
          </a:xfrm>
          <a:prstGeom prst="rect">
            <a:avLst/>
          </a:prstGeom>
          <a:solidFill>
            <a:srgbClr val="2A6A1A"/>
          </a:solidFill>
          <a:ln w="12700">
            <a:solidFill>
              <a:srgbClr val="2A6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 (USB pointer)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untuk VM dengan GUI agar mouse lebih presisi di Console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Operasi VM — Start, Stop, Migration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Shutdown: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klik tombol Start di toolbar — atau klik kanan VM di resource tree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Shutdown: kirim sinyal ACPI shutdown (graceful — OS akan proses shutdown normal)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Stop: force power off — risiko filesystem corruption, hindari kecuali VM hang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Reset: restart paksa — setara tekan tombol reset fisik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Hibernate / Suspend: suspend VM ke disk (membutuhkan QEMU guest agent)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Migration (antar node dalam cluster):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kanan VM &gt; Migrate — pilih target node, centang 'Online migration'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tetap berjalan saat pindah node — tanpa downtime (perlu shared storage)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Migration: VM dimatikan, disk dipindah, VM dinyalakan di node tujuan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Live migration membutuhkan storage shared (Ceph/NFS/iSCSI) agar disk bisa diakses dari node lain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&gt; Console — Akses Layar VM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noVNC (default):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via browser — tidak perlu install client. Cocok untuk akses cepat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VM &gt; Console &gt; pilih noVNC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 lebih baik untuk VM GUI (Windows/Desktop Linux)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Butuh SPICE client: virt-viewer (Linux) atau virt-viewer for Windows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di Hardware &gt; Display &gt; pilih SPICE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Terminal: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VM server (tanpa GUI) — akses via serial console terminal di browser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konfigurasi di OS: tambah console=ttyS0 di GRUB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Penggunaan Console: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Ctrl+Alt+Delete di noVNC: gunakan tombol 'Send Key' di toolbar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keluar dari console tanpa shutdown: Ctrl+Alt+Q atau tutup tab browser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6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&amp; Backup VM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&gt; Snapshots — Cara Kerja &amp; Penggunaan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 menyimpan state VM pada titik waktu tertentu: isi disk + konfigurasi + state RAM (opsional)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Snapshot: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&gt; Snapshots &gt; Take Snapshot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nama deskriptif: pre-update-nginx, clean-base, before-migration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Centang 'Include RAM' untuk simpan state memori (VM harus dalam kondisi running)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Snapshot: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&gt; Snapshots &gt; pilih snapshot &gt; klik Rollback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akan dikembalikan ke kondisi persis saat snapshot dibuat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Snapshot vs Backup: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Snapshot: cepat, disimpan di storage yang sama dengan disk VM, bergantung pada disk VM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(vzdump): salinan independen ke storage terpisah, bisa restore ke node berbeda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Hapus snapshot yang tidak diperlukan — snapshot yang menumpuk memperlambat performa I/O disk VM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VM Manual (VM &gt; Backup)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VM di resource tree &gt; klik tab Backup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664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'Backup now' untuk backup manual segera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3042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Storage tujuan backup (harus storage type: dir, NFS, PBS, atau CIFS)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9443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Mode: Stop (paling konsisten), Suspend (sedang), atau Snapshot (online, perlu QEMU agent)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5844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Pilih Compress: zstd (cepat &amp; efisien, rekomendasi) atau gzip atau none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2245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'Backup' — progress tampil di Task History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91947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48646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backup tersimpan sebagai .vma.zst di storage yang dipilih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55955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55046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restore: Storage &gt; pilih backup file &gt; klik Restore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Mode 'Snapshot' memungkinkan backup VM yang sedang berjalan tanpa downtime (butuh QEMU Guest Agent aktif)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Backup — Backup Terjadwal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Lokasi Konfigurasi: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Datacenter &gt; Backup &gt; Add — buat jadwal backup otomatis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Pengaturan Jadwal: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Storage: pilih storage tujuan backup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Schedule: pilih hari dan jam (format cron — contoh: Mon,Thu 02:00)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Selection: all VMs, atau pilih VM/CT tertentu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Mode: Stop / Suspend / Snapshot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Backups: jumlah backup yang disimpan per VM (rotate otomatis)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Notification: email notifikasi setelah backup selesai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Jadwalkan backup di luar jam operasional (dini hari)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minimal 3 versi backup per VM (Max Backups = 3)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Backup ke storage yang berbeda dari storage disk VM — hindari backup ke local-lvm yang sama dengan disk VM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7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LXC Container di Proxmox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VM vs LXC Container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Virtual Machine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LXC Container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penuh — hardware emulated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jalankan OS apapun (Windows, Linux, BSD)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sendiri — isolasi penuh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lebih tinggi (perlu boot OS)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minimal 512 MB - 1 GB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time: 30–120 detik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Windows, layanan yang butuh kernel khusus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444752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Virtualisasi OS — berbagi kernel host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bisa jalankan Linux (distro apapun)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 via namespace dan cgroups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Overhead sangat rendah — efisien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RAM: bisa mulai dari 64–128 MB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time: 1–5 detik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untuk: web server, DNS, database, monitoring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Membuat LXC Container Baru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template CT terlebih dahulu: Storage &gt; local &gt; CT Templates &gt; Templates &gt; pilih distro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664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tombol 'Create CT' di toolbar Web UI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3042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General: isi CTID, Hostname, Password (root), SSH public key (opsional)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9443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Template: pilih Storage dan Template yang sudah didownload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5844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Disks: pilih storage dan ukuran disk root (minimal 4–8 GB untuk server)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2245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CPU: jumlah core. Tab Memory: RAM dan Swap (MB)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91947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48646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Network: pilih bridge (vmbr0), DHCP atau IP statis, gateway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55955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55046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DNS: isi nameserver atau biarkan inherit dari node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619963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199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" y="61447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Finish — CT terbuat. Klik Start untuk jalankan container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Aktifkan 'Unprivileged container' untuk keamanan lebih baik — direkomendasikan untuk semua CT baru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 Menu LXC Container — Panel Kanan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CT, CPU/RAM/disk usage, uptime, IP address container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langsung ke dalam container — setara SSH ke dalam CT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Ubah alokasi CPU, RAM, Swap, dan tambah/hapus mount point disk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65960"/>
            <a:ext cx="54864" cy="73152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interface jaringan: IP, gateway, VLAN, bridge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6A1A7A"/>
          </a:solidFill>
          <a:ln w="12700">
            <a:solidFill>
              <a:srgbClr val="6A1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Nameserver dan domain search khusus untuk container ini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880360"/>
            <a:ext cx="54864" cy="731520"/>
          </a:xfrm>
          <a:prstGeom prst="rect">
            <a:avLst/>
          </a:prstGeom>
          <a:solidFill>
            <a:srgbClr val="1A6A7A"/>
          </a:solidFill>
          <a:ln w="12700">
            <a:solidFill>
              <a:srgbClr val="1A6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boot, protection, features (NFS, FUSE, keyctl, nesting)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7A1A2A"/>
          </a:solidFill>
          <a:ln w="12700">
            <a:solidFill>
              <a:srgbClr val="7A1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manual container, restore dari backup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94760"/>
            <a:ext cx="54864" cy="731520"/>
          </a:xfrm>
          <a:prstGeom prst="rect">
            <a:avLst/>
          </a:prstGeom>
          <a:solidFill>
            <a:srgbClr val="2A6A1A"/>
          </a:solidFill>
          <a:ln w="12700">
            <a:solidFill>
              <a:srgbClr val="2A6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Snapshots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dan restore snapshot container (hanya disk, tidak include RAM)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8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di Proxmox VE</a:t>
            </a:r>
            <a:endParaRPr lang="en-US" sz="3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Storage yang Didukung Proxmox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7315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 (local)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biasa di filesystem — simpan ISO, backup, disk images (qcow2)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051560"/>
            <a:ext cx="54864" cy="73152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0515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LVM / LVM-Thin (local-lvm)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3807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Volume Manager — raw block, performa baik, tidak support snapshot tanpa thin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65960"/>
            <a:ext cx="54864" cy="731520"/>
          </a:xfrm>
          <a:prstGeom prst="rect">
            <a:avLst/>
          </a:prstGeom>
          <a:solidFill>
            <a:srgbClr val="1A7A3A"/>
          </a:solidFill>
          <a:ln w="12700">
            <a:solidFill>
              <a:srgbClr val="1A7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ZFS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Filesystem advanced — built-in RAID, snapshot, compression, self-healing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9659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1965960"/>
            <a:ext cx="54864" cy="731520"/>
          </a:xfrm>
          <a:prstGeom prst="rect">
            <a:avLst/>
          </a:prstGeom>
          <a:solidFill>
            <a:srgbClr val="7A4A1A"/>
          </a:solidFill>
          <a:ln w="12700">
            <a:solidFill>
              <a:srgbClr val="7A4A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9659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2951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File System — shared storage via jaringan, support semua content type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880360"/>
            <a:ext cx="54864" cy="731520"/>
          </a:xfrm>
          <a:prstGeom prst="rect">
            <a:avLst/>
          </a:prstGeom>
          <a:solidFill>
            <a:srgbClr val="6A1A7A"/>
          </a:solidFill>
          <a:ln w="12700">
            <a:solidFill>
              <a:srgbClr val="6A1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CIFS/SMB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Windows-compatible file share — mount folder SMB sebagai storage Proxmox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2880360"/>
            <a:ext cx="54864" cy="731520"/>
          </a:xfrm>
          <a:prstGeom prst="rect">
            <a:avLst/>
          </a:prstGeom>
          <a:solidFill>
            <a:srgbClr val="1A6A7A"/>
          </a:solidFill>
          <a:ln w="12700">
            <a:solidFill>
              <a:srgbClr val="1A6A7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28803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iSCSI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32095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storage via jaringan — high performance, perlu target iSCSI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794760"/>
            <a:ext cx="54864" cy="731520"/>
          </a:xfrm>
          <a:prstGeom prst="rect">
            <a:avLst/>
          </a:prstGeom>
          <a:solidFill>
            <a:srgbClr val="7A1A2A"/>
          </a:solidFill>
          <a:ln w="12700">
            <a:solidFill>
              <a:srgbClr val="7A1A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RBD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9436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 storage Ceph — highly available, scale-out, untuk cluster multi-node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3931920" cy="73152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3794760"/>
            <a:ext cx="54864" cy="731520"/>
          </a:xfrm>
          <a:prstGeom prst="rect">
            <a:avLst/>
          </a:prstGeom>
          <a:solidFill>
            <a:srgbClr val="2A6A1A"/>
          </a:solidFill>
          <a:ln w="12700">
            <a:solidFill>
              <a:srgbClr val="2A6A1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79476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PBS (Proxmox Backup)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92040" y="4123944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Backup Server — deduplikasi, backup incremental efisien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Content Types — Apa yang Bisa Disimpan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 Image (images):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disk VM (.raw, .qcow2) — format utama untuk KVM VM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Image (iso):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ISO untuk instalasi OS di VM — upload ke storage type Directory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Template (vztmpl):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container LXC — download dari Proxmox template repository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VZDump Backup (backup):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backup VM/CT hasil vzdump — ekstensi .vma.zst atau .tar.zst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Snippets: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konfigurasi kustom — hook scripts, cloud-init user-data, dll.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ISO: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&gt; local &gt; ISO Images &gt; Upload — atau download langsung dari URL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Storage local-lvm (LVM-Thin) hanya bisa menyimpan disk images — tidak bisa simpan ISO atau backup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9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Jaringan Virtual di Proxmox VE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Bridge Network di Proxmox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menggunakan Linux Bridge sebagai switch virtual untuk koneksi VM/CT ke jaringan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vmbr0 (bridge utama):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Dibuat otomatis saat instalasi, terhubung ke NIC fisik pertama (eth0/ens18)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node Proxmox diassign ke vmbr0, bukan ke NIC fisik langsung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dan CT menempel ke vmbr0 → mendapat akses jaringan yang sama dengan node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Bridge: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vmbr1, vmbr2, dll. untuk segmentasi jaringan (management, storage, tenant)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 tanpa NIC fisik = jaringan internal terisolasi (private network antar VM)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Tagging: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VLAN-aware di bridge — VM/CT bisa spesifikan VLAN tag di konfigurasi network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Tambah bridge baru via Node &gt; System &gt; Network &gt; Create &gt; Linux Bridge — klik Apply Configuration setelah selesai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Network VM/CT — Konfigurasi di Hardware Tab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VM (KVM)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0058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CT (LXC)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44752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 VirtIO (performa terbaik), e1000 (kompatibel)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pilih vmbr0 atau bridge lain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Tag: isi nomor VLAN jika diperlukan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 Address: otomatis atau manual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Limit: batasi bandwidth VM (MB/s)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Firewall: aktifkan per-VM firewall rules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Bisa tambah hingga 8 network adapter per VM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444752"/>
            <a:ext cx="384048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eth0 (nama interface di dalam CT)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Bridge: pilih vmbr0 atau bridge lain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IP: DHCP atau static (CIDR format: 192.168.1.10/24)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Gateway: IP gateway untuk routing keluar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VLAN Tag: opsional sesuai kebutuhan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Limit: batasi bandwidth CT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multiple interface untuk multi-homed CT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Troubleshooting</a:t>
            </a:r>
            <a:endParaRPr lang="en-US" sz="3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via Proxmox Web UI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&gt; Summary: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Grafik CPU, RAM, disk I/O, network I/O realtime dan historis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Informasi: uptime, kernel version, PVE version, CPU model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/ CT &gt; Summary: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usage per VM: CPU%, RAM, disk read/write, network in/out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running, stopped, paused — IP address (butuh QEMU agent untuk VM)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History (Node dan VM level):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semua operasi: start, stop, backup, migrate, clone — dengan status sukses/gagal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&gt; Summary (jika multi-node):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seluruh cluster: total resource, distribusi VM ke node, quorum status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Eksternal: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expose metrics via Prometheus endpoint — integrasi dengan Grafana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Aktifkan QEMU Guest Agent di VM agar Proxmox bisa baca IP address dan lakukan graceful shutdown via Web UI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 Umum Proxmox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tidak bisa diakses: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ke node: systemctl restart pveproxy — cek port 8006 tidak diblokir firewall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tidak bisa start — error 'KVM not supported':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tidak support atau VT-x/AMD-V belum aktif di BIOS server fisik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 hang / tidak bisa shutdown: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Coba ACPI Shutdown → jika gagal: qm stop &lt;vmid&gt; dari Node Shell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resort: qm stop &lt;vmid&gt; --skiplock (force stop)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full — backup/disk tidak bisa dibuat: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Cek via pvesm status — hapus backup lama atau snapshot yang tidak perlu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 tidak bisa start — cgroup error: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features yang dibutuhkan di CT &gt; Options &gt; Features (nesting, fuse, dll.)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gagal — cek detail error: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task di Task History — baca pesan error lengkap. Atau journalctl -xe di Node Shell</a:t>
            </a:r>
            <a:endParaRPr lang="en-US" sz="14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11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Hands-On Lab</a:t>
            </a:r>
            <a:endParaRPr lang="en-US" sz="3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1: Deploy VM Ubuntu Server &amp; Konfigurasi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ISO Ubuntu Server 22.04 ke Storage &gt; local &gt; ISO Images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664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VM baru: VMID 100, Name: lab-server-01, RAM 2GB, Disk 20GB, vmbr0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3042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VM, buka Console (noVNC) — instalasi Ubuntu Server via wizard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9443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Aktifkan QEMU Guest Agent: apt install qemu-guest-agent &amp;&amp; systemctl enable --now qemu-guest-agent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5844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IP muncul di VM &gt; Summary (butuh QEMU agent aktif)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2245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SSH dari laptop ke IP VM — uji konektivitas jaringan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91947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48646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snapshot: VM &gt; Snapshots &gt; Take Snapshot — nama: 'post-install-clean'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55955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55046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Simulasi: hapus file konfigurasi penting → restore snapshot → verifikasi recovery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Catat waktu mulai restore hingga verifikasi selesai — ini adalah MTTR snapshot recovery Anda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2: Deploy LXC Container Web Server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7899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789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template: Storage &gt; local &gt; CT Templates &gt; Templates &gt; ubuntu-22.04-standard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1907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7552" y="16642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CT baru: CTID 200, Hostname: web-ct-01, RAM 512MB, Disk 8GB, IP statis 192.168.1.200/24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7552" y="23042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CT, buka Console — update sistem: apt update &amp;&amp; apt upgrade -y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99923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9992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7552" y="294436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nginx: apt install nginx -y &amp;&amp; systemctl enable nginx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639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58444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dari browser: http://192.168.1.200 — verifikasi halaman default nginx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27939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793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87552" y="422452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resource usage CT vs VM Ubuntu di Summary masing-masing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919472"/>
            <a:ext cx="402336" cy="402336"/>
          </a:xfrm>
          <a:prstGeom prst="ellipse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194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" y="486460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snapshot CT dan backup ke storage lokal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5559552"/>
            <a:ext cx="402336" cy="402336"/>
          </a:xfrm>
          <a:prstGeom prst="ellipse">
            <a:avLst/>
          </a:prstGeom>
          <a:solidFill>
            <a:srgbClr val="444444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559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" y="5504688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Diskusi: kapan pakai VM vs CT untuk kebutuhan operasional?</a:t>
            </a:r>
            <a:endParaRPr lang="en-US" sz="13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Skenario 3: Backup, Restore &amp; Simulasi Disaster Recovery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Persiapan: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Pastikan storage tipe Directory tersedia untuk menyimpan backup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Langkah Lab: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Backup VM secara manual: VM &gt; Backup &gt; Backup Now (mode: Snapshot, compress: zstd)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Verifikasi file backup di Storage &gt; local &gt; Backups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Simulasi disaster: VM &gt; Hardware &gt; Hard Disk &gt; Detach (atau hapus data kritis di dalam VM)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Restore dari backup: Storage &gt; backup file &gt; Restore → tentukan VMID tujuan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Start VM hasil restore → verifikasi data dan service berjalan kembali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Catat RTO (Recovery Time Objective): waktu total dari deteksi masalah ke service kembali normal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diskusi: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Perbedaan RTO antara restore snapshot vs restore backup penuh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4480560"/>
            <a:ext cx="8229600" cy="411480"/>
          </a:xfrm>
          <a:prstGeom prst="rect">
            <a:avLst/>
          </a:prstGeom>
          <a:solidFill>
            <a:srgbClr val="F4F4F4"/>
          </a:solidFill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48056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Snapshot restore biasanya &lt; 1 menit. Restore backup penuh bisa 5–30 menit tergantung ukuran VM dan speed storage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2B5E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371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D6E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7863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Poin-Poin Kunci</a:t>
            </a:r>
            <a:endParaRPr lang="en-US" sz="3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 Materi Proxmox VE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VE adalah hypervisor Type 1 — lebih efisien dan cocok untuk server production dibanding VirtualBox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operasi dikelola via Web UI (browser port 8006) — tidak perlu install software tambahan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teknologi virtualisasi dalam satu platform: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KVM VM untuk OS apapun, LXC Container untuk workload Linux yang ringan dan efisien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 utama operasional: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Buat VM/CT → konfigurasi hardware → install OS → snapshot → backup terjadwal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types menentukan fitur yang tersedia — pilih sesuai kebutuhan (backup, disk image, ISO)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dan troubleshooting terpusat di Web UI — Task History, Node Shell, Summary graphs</a:t>
            </a:r>
            <a:endParaRPr lang="en-US" sz="14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Referensi &amp; Topik Lanjutan</a:t>
            </a:r>
            <a:endParaRPr lang="en-US" sz="23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Dokumentasi Resmi: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pve.proxmox.com/pve-docs — dokumentasi lengkap Proxmox VE dalam format HTML dan PDF</a:t>
            </a:r>
            <a:endParaRPr lang="en-US" sz="14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Lanjutan: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Clustering: gabung beberapa node Proxmox menjadi satu cluster terpusat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Availability (HA): VM otomatis restart di node lain jika node mati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Ceph Storage: distributed storage terintegrasi — tidak ada single point of failure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Proxmox Backup Server (PBS): backup server dedicated dengan deduplikasi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SDN (Software Defined Networking): VXLAN, VLANs, zones via Proxmox SDN plugin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Firewall: per-cluster, per-node, per-VM firewall rules dengan security groups</a:t>
            </a:r>
            <a:endParaRPr lang="en-US" sz="1400" dirty="0"/>
          </a:p>
          <a:p>
            <a:pPr lvl="1" marL="6858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Terraform Provider: infrastructure-as-code untuk provisioning VM Proxmox otomatis</a:t>
            </a:r>
            <a:endParaRPr lang="en-US" sz="14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80160"/>
            <a:ext cx="73152" cy="2560320"/>
          </a:xfrm>
          <a:prstGeom prst="rect">
            <a:avLst/>
          </a:prstGeom>
          <a:solidFill>
            <a:srgbClr val="2B5EA7"/>
          </a:solidFill>
          <a:ln w="12700">
            <a:solidFill>
              <a:srgbClr val="2B5E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280160"/>
            <a:ext cx="7772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Kasih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85800" y="301752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Silakan lanjutkan ke sesi Hands-On Lab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47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Pengoperasian Proxmox VE</dc:title>
  <dc:subject>PptxGenJS Presentation</dc:subject>
  <dc:creator>IT Operasional</dc:creator>
  <cp:lastModifiedBy>IT Operasional</cp:lastModifiedBy>
  <cp:revision>1</cp:revision>
  <dcterms:created xsi:type="dcterms:W3CDTF">2026-05-18T15:42:55Z</dcterms:created>
  <dcterms:modified xsi:type="dcterms:W3CDTF">2026-05-18T15:42:55Z</dcterms:modified>
</cp:coreProperties>
</file>