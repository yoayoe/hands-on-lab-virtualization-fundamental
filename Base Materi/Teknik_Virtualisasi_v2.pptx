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82296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Virtualization,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Paravirtualization &amp;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Hardware-Assisted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24612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pendekatan teknis bagaimana hypervisor menjalankan VM di atas hardware.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3913632"/>
            <a:ext cx="2423160" cy="749808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93192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Virtualization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Translation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3913632"/>
            <a:ext cx="2423160" cy="749808"/>
          </a:xfrm>
          <a:prstGeom prst="rect">
            <a:avLst/>
          </a:prstGeom>
          <a:solidFill>
            <a:srgbClr val="CCFBF1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393192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Paravirtualization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337560" y="42976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Hypercall / virtio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60720" y="3913632"/>
            <a:ext cx="2423160" cy="749808"/>
          </a:xfrm>
          <a:prstGeom prst="rect">
            <a:avLst/>
          </a:prstGeom>
          <a:solidFill>
            <a:srgbClr val="DCFCE7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393192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Hardware-Assisted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852160" y="42976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VT-x / AMD-V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Operasional Unit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46304"/>
            <a:ext cx="475488" cy="475488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50976" y="16459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Virtualization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040880" y="182880"/>
            <a:ext cx="1828800" cy="36576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182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Translation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731520"/>
            <a:ext cx="841248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841248"/>
            <a:ext cx="8412480" cy="640080"/>
          </a:xfrm>
          <a:prstGeom prst="rect">
            <a:avLst/>
          </a:prstGeom>
          <a:solidFill>
            <a:srgbClr val="EDE9FE"/>
          </a:solidFill>
          <a:ln w="10160">
            <a:solidFill>
              <a:srgbClr val="C4B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877824"/>
            <a:ext cx="8092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 mensimulasikan hardware lengkap sehingga guest OS tidak perlu dimodifikasi — OS berjalan seolah di hardware fisik nyata.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60934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Kerja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1965960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" y="1965960"/>
            <a:ext cx="3493008" cy="347472"/>
          </a:xfrm>
          <a:prstGeom prst="rect">
            <a:avLst/>
          </a:prstGeom>
          <a:solidFill>
            <a:srgbClr val="F5F5F5"/>
          </a:solidFill>
          <a:ln w="889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1965960"/>
            <a:ext cx="33467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OS mengirim instruksi sensitif seolah-olah ke hardware fisik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2532888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32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" y="2532888"/>
            <a:ext cx="3493008" cy="347472"/>
          </a:xfrm>
          <a:prstGeom prst="rect">
            <a:avLst/>
          </a:prstGeom>
          <a:solidFill>
            <a:srgbClr val="F5F5F5"/>
          </a:solidFill>
          <a:ln w="889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2532888"/>
            <a:ext cx="33467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 menangkap instruksi tersebut secara transparan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099816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099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4672" y="3099816"/>
            <a:ext cx="3493008" cy="347472"/>
          </a:xfrm>
          <a:prstGeom prst="rect">
            <a:avLst/>
          </a:prstGeom>
          <a:solidFill>
            <a:srgbClr val="F5F5F5"/>
          </a:solidFill>
          <a:ln w="889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3099816"/>
            <a:ext cx="33467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translation menerjemahkan instruksi ke operasi aman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3666744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4672" y="3666744"/>
            <a:ext cx="3493008" cy="347472"/>
          </a:xfrm>
          <a:prstGeom prst="rect">
            <a:avLst/>
          </a:prstGeom>
          <a:solidFill>
            <a:srgbClr val="F5F5F5"/>
          </a:solidFill>
          <a:ln w="889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" y="3666744"/>
            <a:ext cx="33467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dikembalikan ke guest OS seolah dari hardware asli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44568" y="1554480"/>
            <a:ext cx="54864" cy="33375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60934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Kelebihan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754880" y="1929384"/>
            <a:ext cx="4023360" cy="356616"/>
          </a:xfrm>
          <a:prstGeom prst="rect">
            <a:avLst/>
          </a:prstGeom>
          <a:solidFill>
            <a:srgbClr val="DCFCE7"/>
          </a:solidFill>
          <a:ln w="8890">
            <a:solidFill>
              <a:srgbClr val="86EFA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929384"/>
            <a:ext cx="38862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guest tidak perlu diubah sama sekali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54880" y="2350008"/>
            <a:ext cx="4023360" cy="356616"/>
          </a:xfrm>
          <a:prstGeom prst="rect">
            <a:avLst/>
          </a:prstGeom>
          <a:solidFill>
            <a:srgbClr val="DCFCE7"/>
          </a:solidFill>
          <a:ln w="8890">
            <a:solidFill>
              <a:srgbClr val="86EFA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350008"/>
            <a:ext cx="38862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Kompatibilitas luas — termasuk Windows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754880" y="293522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Kekurangan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754880" y="3255264"/>
            <a:ext cx="4023360" cy="356616"/>
          </a:xfrm>
          <a:prstGeom prst="rect">
            <a:avLst/>
          </a:prstGeom>
          <a:solidFill>
            <a:srgbClr val="FEE2E2"/>
          </a:solidFill>
          <a:ln w="8890">
            <a:solidFill>
              <a:srgbClr val="FCA5A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255264"/>
            <a:ext cx="38862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lebih tinggi karena translasi runtime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754880" y="39136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754880" y="4224528"/>
            <a:ext cx="4023360" cy="47548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422452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 ESX (generasi awal)  ·  VirtualBox tanpa VT-x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46304"/>
            <a:ext cx="475488" cy="47548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50976" y="16459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Paravirtualization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040880" y="182880"/>
            <a:ext cx="1828800" cy="36576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182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Hypercall / virtio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731520"/>
            <a:ext cx="841248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841248"/>
            <a:ext cx="8412480" cy="640080"/>
          </a:xfrm>
          <a:prstGeom prst="rect">
            <a:avLst/>
          </a:prstGeom>
          <a:solidFill>
            <a:srgbClr val="CCFBF1"/>
          </a:solidFill>
          <a:ln w="10160">
            <a:solidFill>
              <a:srgbClr val="5EEA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877824"/>
            <a:ext cx="8092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OS dimodifikasi agar "sadar" sedang berjalan di atas hypervisor. Guest OS berkomunikasi langsung dengan hypervisor melalui hypercall, bukan mensimulasikan hardware.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60934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Kerja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196596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" y="1965960"/>
            <a:ext cx="3493008" cy="347472"/>
          </a:xfrm>
          <a:prstGeom prst="rect">
            <a:avLst/>
          </a:prstGeom>
          <a:solidFill>
            <a:srgbClr val="F5F5F5"/>
          </a:solidFill>
          <a:ln w="889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1965960"/>
            <a:ext cx="33467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OS dimodifikasi untuk mengenal lingkungan virtual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2532888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32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" y="2532888"/>
            <a:ext cx="3493008" cy="347472"/>
          </a:xfrm>
          <a:prstGeom prst="rect">
            <a:avLst/>
          </a:prstGeom>
          <a:solidFill>
            <a:srgbClr val="F5F5F5"/>
          </a:solidFill>
          <a:ln w="889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2532888"/>
            <a:ext cx="33467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Alih-alih mensimulasikan hardware, Guest OS aktif memanggil API hypervisor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099816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099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4672" y="3099816"/>
            <a:ext cx="3493008" cy="347472"/>
          </a:xfrm>
          <a:prstGeom prst="rect">
            <a:avLst/>
          </a:prstGeom>
          <a:solidFill>
            <a:srgbClr val="F5F5F5"/>
          </a:solidFill>
          <a:ln w="889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3099816"/>
            <a:ext cx="33467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Hypercall langsung diterima &amp; dieksekusi hypervisor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366674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4672" y="3666744"/>
            <a:ext cx="3493008" cy="347472"/>
          </a:xfrm>
          <a:prstGeom prst="rect">
            <a:avLst/>
          </a:prstGeom>
          <a:solidFill>
            <a:srgbClr val="F5F5F5"/>
          </a:solidFill>
          <a:ln w="889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" y="3666744"/>
            <a:ext cx="33467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binary translation — komunikasi lebih efisien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44568" y="1554480"/>
            <a:ext cx="54864" cy="33375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60934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Kelebihan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754880" y="1929384"/>
            <a:ext cx="4023360" cy="356616"/>
          </a:xfrm>
          <a:prstGeom prst="rect">
            <a:avLst/>
          </a:prstGeom>
          <a:solidFill>
            <a:srgbClr val="DCFCE7"/>
          </a:solidFill>
          <a:ln w="8890">
            <a:solidFill>
              <a:srgbClr val="86EFA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929384"/>
            <a:ext cx="38862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 lebih tinggi dari full virtualization tradisional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754880" y="25146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Kekurangan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754880" y="2834640"/>
            <a:ext cx="4023360" cy="356616"/>
          </a:xfrm>
          <a:prstGeom prst="rect">
            <a:avLst/>
          </a:prstGeom>
          <a:solidFill>
            <a:srgbClr val="FEE2E2"/>
          </a:solidFill>
          <a:ln w="8890">
            <a:solidFill>
              <a:srgbClr val="FCA5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834640"/>
            <a:ext cx="38862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guest harus dimodifikasi — sulit untuk OS proprietary (Windows)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754880" y="35661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754880" y="3877056"/>
            <a:ext cx="4023360" cy="80467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877056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Xen (mode PV)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paravirtual virtio di KVM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 Tools (sebagian fungsi PV)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46304"/>
            <a:ext cx="475488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50976" y="16459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Hardware-Assisted Virtualization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040880" y="182880"/>
            <a:ext cx="1828800" cy="3657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182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VT-x / AMD-V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731520"/>
            <a:ext cx="841248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841248"/>
            <a:ext cx="8412480" cy="640080"/>
          </a:xfrm>
          <a:prstGeom prst="rect">
            <a:avLst/>
          </a:prstGeom>
          <a:solidFill>
            <a:srgbClr val="DCFCE7"/>
          </a:solidFill>
          <a:ln w="10160">
            <a:solidFill>
              <a:srgbClr val="86EF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877824"/>
            <a:ext cx="8092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Virtualisasi dibantu langsung oleh CPU lewat fitur khusus: Intel VT-x dan AMD-V. CPU menyediakan mode eksekusi khusus untuk hypervisor dan guest, menghilangkan kebutuhan binary translation atau modifikasi OS.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60934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Pendukung CPU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1965960"/>
            <a:ext cx="3977640" cy="566928"/>
          </a:xfrm>
          <a:prstGeom prst="rect">
            <a:avLst/>
          </a:prstGeom>
          <a:solidFill>
            <a:srgbClr val="F5F5F5"/>
          </a:solidFill>
          <a:ln w="10160">
            <a:solidFill>
              <a:srgbClr val="86EF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965960"/>
            <a:ext cx="54864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20025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VT-x / AMD-V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" y="225856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Virtualisasi CPU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624328"/>
            <a:ext cx="3977640" cy="566928"/>
          </a:xfrm>
          <a:prstGeom prst="rect">
            <a:avLst/>
          </a:prstGeom>
          <a:solidFill>
            <a:srgbClr val="F5F5F5"/>
          </a:solidFill>
          <a:ln w="10160">
            <a:solidFill>
              <a:srgbClr val="86EF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624328"/>
            <a:ext cx="54864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26609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EPT / AMD RVI (NPT)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" y="291693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Virtualisasi memory (nested page table)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282696"/>
            <a:ext cx="3977640" cy="566928"/>
          </a:xfrm>
          <a:prstGeom prst="rect">
            <a:avLst/>
          </a:prstGeom>
          <a:solidFill>
            <a:srgbClr val="F5F5F5"/>
          </a:solidFill>
          <a:ln w="10160">
            <a:solidFill>
              <a:srgbClr val="86EFA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282696"/>
            <a:ext cx="54864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33192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VT-d / AMD-Vi (IOMMU)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2064" y="357530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Virtualisasi I/O &amp; PCI passthrough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941064"/>
            <a:ext cx="3977640" cy="566928"/>
          </a:xfrm>
          <a:prstGeom prst="rect">
            <a:avLst/>
          </a:prstGeom>
          <a:solidFill>
            <a:srgbClr val="F5F5F5"/>
          </a:solidFill>
          <a:ln w="10160">
            <a:solidFill>
              <a:srgbClr val="86EF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941064"/>
            <a:ext cx="54864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" y="39776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SR-IOV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2064" y="423367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Virtualisasi I/O langsung ke VM (NIC kelas DC)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44568" y="1554480"/>
            <a:ext cx="54864" cy="33375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60934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Kelebihan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754880" y="1929384"/>
            <a:ext cx="4023360" cy="356616"/>
          </a:xfrm>
          <a:prstGeom prst="rect">
            <a:avLst/>
          </a:prstGeom>
          <a:solidFill>
            <a:srgbClr val="DCFCE7"/>
          </a:solidFill>
          <a:ln w="8890">
            <a:solidFill>
              <a:srgbClr val="86EFA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929384"/>
            <a:ext cx="38862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 mendekati native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54880" y="2350008"/>
            <a:ext cx="4023360" cy="356616"/>
          </a:xfrm>
          <a:prstGeom prst="rect">
            <a:avLst/>
          </a:prstGeom>
          <a:solidFill>
            <a:srgbClr val="DCFCE7"/>
          </a:solidFill>
          <a:ln w="8890">
            <a:solidFill>
              <a:srgbClr val="86EFA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350008"/>
            <a:ext cx="38862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Kompatibilitas OS tinggi — tidak perlu modifikasi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754880" y="2770632"/>
            <a:ext cx="4023360" cy="356616"/>
          </a:xfrm>
          <a:prstGeom prst="rect">
            <a:avLst/>
          </a:prstGeom>
          <a:solidFill>
            <a:srgbClr val="DCFCE7"/>
          </a:solidFill>
          <a:ln w="8890">
            <a:solidFill>
              <a:srgbClr val="86EFA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770632"/>
            <a:ext cx="38862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 industri saat ini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754880" y="335584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Kekurangan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754880" y="3675888"/>
            <a:ext cx="4023360" cy="356616"/>
          </a:xfrm>
          <a:prstGeom prst="rect">
            <a:avLst/>
          </a:prstGeom>
          <a:solidFill>
            <a:srgbClr val="FEE2E2"/>
          </a:solidFill>
          <a:ln w="8890">
            <a:solidFill>
              <a:srgbClr val="FCA5A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675888"/>
            <a:ext cx="38862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Membutuhkan CPU modern (hampir semua CPU server sejak ~2006 sudah support)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754880" y="413308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754880" y="4443984"/>
            <a:ext cx="402336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444398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hypervisor modern: VMware ESXi · KVM · Hyper-V · Proxmox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Ketiga Pendekatan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841248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1828800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94560" y="822960"/>
            <a:ext cx="2103120" cy="43891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82296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Virt.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822960"/>
            <a:ext cx="2103120" cy="438912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82296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Paravirt.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822960"/>
            <a:ext cx="2377440" cy="43891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8229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HW-Assisted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1298448"/>
            <a:ext cx="1828800" cy="493776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298448"/>
            <a:ext cx="1691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Modifikasi OS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194560" y="1298448"/>
            <a:ext cx="21031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7712" y="1298448"/>
            <a:ext cx="199339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perlu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97680" y="1298448"/>
            <a:ext cx="21031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70832" y="1298448"/>
            <a:ext cx="199339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Harus dimodifikasi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0" y="1298448"/>
            <a:ext cx="23774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1298448"/>
            <a:ext cx="22677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perlu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1847088"/>
            <a:ext cx="1828800" cy="493776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1847088"/>
            <a:ext cx="1691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Mekanisme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194560" y="1847088"/>
            <a:ext cx="210312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67712" y="1847088"/>
            <a:ext cx="199339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Translation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297680" y="1847088"/>
            <a:ext cx="210312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1847088"/>
            <a:ext cx="199339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Hypercall / virtio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0" y="1847088"/>
            <a:ext cx="23774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3952" y="1847088"/>
            <a:ext cx="22677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Ring (VT-x/AMD-V)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65760" y="2395728"/>
            <a:ext cx="1828800" cy="493776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395728"/>
            <a:ext cx="1691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Kecepatan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2194560" y="2395728"/>
            <a:ext cx="21031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67712" y="2395728"/>
            <a:ext cx="199339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Rendah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297680" y="2395728"/>
            <a:ext cx="21031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2395728"/>
            <a:ext cx="199339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Menengah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0" y="2395728"/>
            <a:ext cx="23774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73952" y="2395728"/>
            <a:ext cx="22677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Sangat Tinggi (near-native)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65760" y="2944368"/>
            <a:ext cx="1828800" cy="493776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944368"/>
            <a:ext cx="1691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Kompatibilitas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2194560" y="2944368"/>
            <a:ext cx="210312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67712" y="2944368"/>
            <a:ext cx="199339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Sangat luas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297680" y="2944368"/>
            <a:ext cx="210312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70832" y="2944368"/>
            <a:ext cx="199339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Terbatas (OS tertentu)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400800" y="2944368"/>
            <a:ext cx="23774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73952" y="2944368"/>
            <a:ext cx="22677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Hampir semua OS modern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365760" y="3493008"/>
            <a:ext cx="1828800" cy="493776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3493008"/>
            <a:ext cx="1691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2194560" y="3493008"/>
            <a:ext cx="21031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67712" y="3493008"/>
            <a:ext cx="199339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Tinggi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297680" y="3493008"/>
            <a:ext cx="21031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70832" y="3493008"/>
            <a:ext cx="199339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Rendah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400800" y="3493008"/>
            <a:ext cx="23774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73952" y="3493008"/>
            <a:ext cx="22677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365760" y="4041648"/>
            <a:ext cx="1828800" cy="493776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041648"/>
            <a:ext cx="1691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2194560" y="4041648"/>
            <a:ext cx="210312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67712" y="4041648"/>
            <a:ext cx="199339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/ jarang dipakai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4297680" y="4041648"/>
            <a:ext cx="210312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70832" y="4041648"/>
            <a:ext cx="199339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Masih ada (virtio)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6400800" y="4041648"/>
            <a:ext cx="23774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73952" y="4041648"/>
            <a:ext cx="22677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 industri saat ini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365760" y="4791456"/>
            <a:ext cx="8412480" cy="29260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" y="4791456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Hypervisor modern (ESXi, KVM, Proxmox, Hyper-V) menggabungkan Hardware-Assisted + driver virtio (paravirt) untuk performa optimal.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 Virtualization, Paravirtualization, dan Hardware-Assisted</dc:title>
  <dc:subject>PptxGenJS Presentation</dc:subject>
  <dc:creator>PptxGenJS</dc:creator>
  <cp:lastModifiedBy>PptxGenJS</cp:lastModifiedBy>
  <cp:revision>1</cp:revision>
  <dcterms:created xsi:type="dcterms:W3CDTF">2026-05-19T03:54:51Z</dcterms:created>
  <dcterms:modified xsi:type="dcterms:W3CDTF">2026-05-19T03:54:51Z</dcterms:modified>
</cp:coreProperties>
</file>